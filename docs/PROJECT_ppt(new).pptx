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4" r:id="rId4"/>
    <p:sldId id="273" r:id="rId5"/>
    <p:sldId id="258" r:id="rId6"/>
    <p:sldId id="261" r:id="rId7"/>
    <p:sldId id="265" r:id="rId8"/>
    <p:sldId id="260" r:id="rId9"/>
    <p:sldId id="272" r:id="rId10"/>
    <p:sldId id="274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4BD777-37A9-43A8-B010-53FE3852698E}">
          <p14:sldIdLst>
            <p14:sldId id="256"/>
            <p14:sldId id="257"/>
            <p14:sldId id="264"/>
          </p14:sldIdLst>
        </p14:section>
        <p14:section name="Untitled Section" id="{7307711C-9608-4191-9EEF-59EA12CA526A}">
          <p14:sldIdLst>
            <p14:sldId id="273"/>
            <p14:sldId id="258"/>
            <p14:sldId id="261"/>
            <p14:sldId id="265"/>
            <p14:sldId id="260"/>
            <p14:sldId id="272"/>
            <p14:sldId id="274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CB5F0-374F-448D-B2F9-AF839DA9BA88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1EA4E-6A2E-4FF1-9C54-2A480DBB8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23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2834" y="121493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MACHINE LEARNING FOR TEXT ANALYSIS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24ALT3101)</a:t>
            </a:r>
            <a:b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SMART INTERVIEW ASSESSMENT</a:t>
            </a:r>
            <a:endParaRPr lang="en-US" sz="3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2569" y="3729916"/>
            <a:ext cx="7324531" cy="1573603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Sai Dhanush — 2420030162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Krishna Chaitanya — 2420090077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 Chaitanya Karthik — 2420090030</a:t>
            </a:r>
            <a:br>
              <a:rPr lang="en-US" dirty="0">
                <a:solidFill>
                  <a:srgbClr val="0070C0"/>
                </a:solidFill>
              </a:rPr>
            </a:b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2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 the Esteemed Guidance of:</a:t>
            </a:r>
            <a:endParaRPr lang="en-IN" sz="2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 KATANGURI SWANTHANA (CSE)</a:t>
            </a:r>
            <a:endParaRPr lang="en-US" sz="2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619836"/>
            <a:ext cx="5130572" cy="66018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Creativity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Architecture/Methodology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&amp; Technology Stack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AE01A-437B-322C-EEEE-3044E32C60B2}"/>
              </a:ext>
            </a:extLst>
          </p:cNvPr>
          <p:cNvSpPr txBox="1"/>
          <p:nvPr/>
        </p:nvSpPr>
        <p:spPr>
          <a:xfrm>
            <a:off x="928983" y="1064361"/>
            <a:ext cx="667069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Time-Consuming Screening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reviewing large numbers of resumes and matching them with job descriptions is slow and repetitive.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Keyword-Based Screening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ATS systems may miss relevant candidates when skills are expressed using different terminology.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Limited Interview Insights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interviews do not provide consistent, measurable analysis of speech, communication and answer quality.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 Disconnected Skill Assessment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screening, interview evaluation and coding assessment are usually handled as separate stages.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consistent with the problems identified in your existing project material.</a:t>
            </a:r>
          </a:p>
        </p:txBody>
      </p:sp>
      <p:pic>
        <p:nvPicPr>
          <p:cNvPr id="7" name="Picture 6" descr="AI powered Resume Matcher | AI technology | CV Matching Service">
            <a:extLst>
              <a:ext uri="{FF2B5EF4-FFF2-40B4-BE49-F238E27FC236}">
                <a16:creationId xmlns:a16="http://schemas.microsoft.com/office/drawing/2014/main" id="{39203107-1473-784C-79F6-A23A2995B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560" y="738909"/>
            <a:ext cx="4387740" cy="601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D7F1-012C-ECD9-7F3F-B57EDD0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F49506-52A9-FA4D-7498-F34794D7DA6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435D37-165E-C1D5-FA0B-29B928F2B5EF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74733-29BE-42B5-CFA7-B4C0BF2DC24F}"/>
              </a:ext>
            </a:extLst>
          </p:cNvPr>
          <p:cNvSpPr txBox="1"/>
          <p:nvPr/>
        </p:nvSpPr>
        <p:spPr>
          <a:xfrm>
            <a:off x="1036320" y="879822"/>
            <a:ext cx="9916160" cy="6222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Resume Screening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Match candidate skills with job requirements using semantic analysis. 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AI Interview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Generate personalized questions based on the role, resume and responses. 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Assessment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Evaluate answer quality, communication and speech characteristics. 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 Validation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Assess practical coding ability through role-specific coding tasks. 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Decision Support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Combine assessment results into a clear candidate scorecard and feedback report.</a:t>
            </a:r>
          </a:p>
          <a:p>
            <a:pPr lvl="0">
              <a:lnSpc>
                <a:spcPct val="15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48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5CCAB0BA-4E17-4922-96B5-45A5D784D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35" y="1181513"/>
            <a:ext cx="11454930" cy="44949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RESEARCH GAP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0EE06D1-F83B-422B-4DA6-F8072A9DC98E}"/>
              </a:ext>
            </a:extLst>
          </p:cNvPr>
          <p:cNvSpPr/>
          <p:nvPr/>
        </p:nvSpPr>
        <p:spPr>
          <a:xfrm>
            <a:off x="59436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78136D9-F575-57C3-1FBF-1B589B2DEDE5}"/>
              </a:ext>
            </a:extLst>
          </p:cNvPr>
          <p:cNvSpPr/>
          <p:nvPr/>
        </p:nvSpPr>
        <p:spPr>
          <a:xfrm>
            <a:off x="822960" y="17409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deck/icons/alertcircle_white.png">
            <a:extLst>
              <a:ext uri="{FF2B5EF4-FFF2-40B4-BE49-F238E27FC236}">
                <a16:creationId xmlns:a16="http://schemas.microsoft.com/office/drawing/2014/main" id="{E6D05456-4551-EE25-3805-C3E858725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896380"/>
            <a:ext cx="329184" cy="329184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DB384009-D757-C11E-2E72-A2A748D80015}"/>
              </a:ext>
            </a:extLst>
          </p:cNvPr>
          <p:cNvSpPr/>
          <p:nvPr/>
        </p:nvSpPr>
        <p:spPr>
          <a:xfrm>
            <a:off x="169164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Pipeline</a:t>
            </a:r>
            <a:endParaRPr lang="en-US" sz="15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41210138-625A-D5AE-7C1E-DA1F149DA756}"/>
              </a:ext>
            </a:extLst>
          </p:cNvPr>
          <p:cNvSpPr/>
          <p:nvPr/>
        </p:nvSpPr>
        <p:spPr>
          <a:xfrm>
            <a:off x="868680" y="235000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handle resume screening, speech analysis, and coding assessment separately — never as one integrated system.</a:t>
            </a:r>
            <a:endParaRPr lang="en-US" sz="115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66E34545-7B9F-DCEB-BF21-230F5A75871A}"/>
              </a:ext>
            </a:extLst>
          </p:cNvPr>
          <p:cNvSpPr/>
          <p:nvPr/>
        </p:nvSpPr>
        <p:spPr>
          <a:xfrm>
            <a:off x="621792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13E93151-DDCC-C398-5D8B-B1F4F0365996}"/>
              </a:ext>
            </a:extLst>
          </p:cNvPr>
          <p:cNvSpPr/>
          <p:nvPr/>
        </p:nvSpPr>
        <p:spPr>
          <a:xfrm>
            <a:off x="6446520" y="17541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1" descr="/home/claude/deck/icons/smile_white.png">
            <a:extLst>
              <a:ext uri="{FF2B5EF4-FFF2-40B4-BE49-F238E27FC236}">
                <a16:creationId xmlns:a16="http://schemas.microsoft.com/office/drawing/2014/main" id="{5F4B1C93-75F5-0EF1-C3F5-B907D1B07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920764"/>
            <a:ext cx="329184" cy="329184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8A5EBFFC-2860-6D11-B942-2D5419354133}"/>
              </a:ext>
            </a:extLst>
          </p:cNvPr>
          <p:cNvSpPr/>
          <p:nvPr/>
        </p:nvSpPr>
        <p:spPr>
          <a:xfrm>
            <a:off x="731520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Emotion-Aware Evaluation</a:t>
            </a:r>
            <a:endParaRPr lang="en-US" sz="1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71C3D590-2E17-A7A1-56C9-7555780AE7C6}"/>
              </a:ext>
            </a:extLst>
          </p:cNvPr>
          <p:cNvSpPr/>
          <p:nvPr/>
        </p:nvSpPr>
        <p:spPr>
          <a:xfrm>
            <a:off x="6492240" y="235000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systems combine transcription with genuine emotional/confidence analysis of candidate speech.</a:t>
            </a:r>
            <a:endParaRPr lang="en-US" sz="115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7A13394B-5484-CF64-9CA8-0DC107F72E3C}"/>
              </a:ext>
            </a:extLst>
          </p:cNvPr>
          <p:cNvSpPr/>
          <p:nvPr/>
        </p:nvSpPr>
        <p:spPr>
          <a:xfrm>
            <a:off x="594360" y="39776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B8A496AA-7E0F-2BD0-22EB-A18FE07AECA1}"/>
              </a:ext>
            </a:extLst>
          </p:cNvPr>
          <p:cNvSpPr/>
          <p:nvPr/>
        </p:nvSpPr>
        <p:spPr>
          <a:xfrm>
            <a:off x="899160" y="4150852"/>
            <a:ext cx="54864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2" descr="/home/claude/deck/icons/users_white.png">
            <a:extLst>
              <a:ext uri="{FF2B5EF4-FFF2-40B4-BE49-F238E27FC236}">
                <a16:creationId xmlns:a16="http://schemas.microsoft.com/office/drawing/2014/main" id="{3D2CB16D-E55B-57D5-9EDC-A0080EF8D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48" y="4334256"/>
            <a:ext cx="275844" cy="446532"/>
          </a:xfrm>
          <a:prstGeom prst="rect">
            <a:avLst/>
          </a:prstGeom>
        </p:spPr>
      </p:pic>
      <p:sp>
        <p:nvSpPr>
          <p:cNvPr id="32" name="Text 11">
            <a:extLst>
              <a:ext uri="{FF2B5EF4-FFF2-40B4-BE49-F238E27FC236}">
                <a16:creationId xmlns:a16="http://schemas.microsoft.com/office/drawing/2014/main" id="{929A3D37-F997-EA3D-533D-14C43EDB8B3D}"/>
              </a:ext>
            </a:extLst>
          </p:cNvPr>
          <p:cNvSpPr/>
          <p:nvPr/>
        </p:nvSpPr>
        <p:spPr>
          <a:xfrm>
            <a:off x="1691640" y="42336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Human Bias</a:t>
            </a:r>
            <a:endParaRPr lang="en-US" sz="15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F2255603-B102-9889-0C74-A8C9531E37DC}"/>
              </a:ext>
            </a:extLst>
          </p:cNvPr>
          <p:cNvSpPr/>
          <p:nvPr/>
        </p:nvSpPr>
        <p:spPr>
          <a:xfrm>
            <a:off x="868680" y="472744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scoring still dominates final decisions, reintroducing the subjectivity automation should remove.</a:t>
            </a:r>
            <a:endParaRPr lang="en-US" sz="115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91840829-A323-D7AC-62A9-BF12DE2E48A4}"/>
              </a:ext>
            </a:extLst>
          </p:cNvPr>
          <p:cNvSpPr/>
          <p:nvPr/>
        </p:nvSpPr>
        <p:spPr>
          <a:xfrm>
            <a:off x="6217920" y="39776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031CF078-5704-60A6-3ACA-A1192D3193AE}"/>
              </a:ext>
            </a:extLst>
          </p:cNvPr>
          <p:cNvSpPr/>
          <p:nvPr/>
        </p:nvSpPr>
        <p:spPr>
          <a:xfrm>
            <a:off x="6482080" y="408736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3" descr="/home/claude/deck/icons/layers_white.png">
            <a:extLst>
              <a:ext uri="{FF2B5EF4-FFF2-40B4-BE49-F238E27FC236}">
                <a16:creationId xmlns:a16="http://schemas.microsoft.com/office/drawing/2014/main" id="{44A0D415-7294-2CDE-14DA-E00EACE96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528" y="4261104"/>
            <a:ext cx="329184" cy="329184"/>
          </a:xfrm>
          <a:prstGeom prst="rect">
            <a:avLst/>
          </a:prstGeom>
        </p:spPr>
      </p:pic>
      <p:sp>
        <p:nvSpPr>
          <p:cNvPr id="42" name="Text 15">
            <a:extLst>
              <a:ext uri="{FF2B5EF4-FFF2-40B4-BE49-F238E27FC236}">
                <a16:creationId xmlns:a16="http://schemas.microsoft.com/office/drawing/2014/main" id="{D40B0869-40F7-F2E9-682F-DE866FEC4E4E}"/>
              </a:ext>
            </a:extLst>
          </p:cNvPr>
          <p:cNvSpPr/>
          <p:nvPr/>
        </p:nvSpPr>
        <p:spPr>
          <a:xfrm>
            <a:off x="7315200" y="42336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Multimodal Scoring</a:t>
            </a:r>
            <a:endParaRPr lang="en-US" sz="1500" dirty="0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0EABF330-6A83-C6DC-9A3B-2F9DB32AB80E}"/>
              </a:ext>
            </a:extLst>
          </p:cNvPr>
          <p:cNvSpPr/>
          <p:nvPr/>
        </p:nvSpPr>
        <p:spPr>
          <a:xfrm>
            <a:off x="6492240" y="4727448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voice, and code are rarely fused into a single explainable candidate score.</a:t>
            </a:r>
            <a:endParaRPr lang="en-US" sz="115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913DB1-D204-6407-3C34-794D159949EE}"/>
              </a:ext>
            </a:extLst>
          </p:cNvPr>
          <p:cNvSpPr txBox="1"/>
          <p:nvPr/>
        </p:nvSpPr>
        <p:spPr>
          <a:xfrm>
            <a:off x="2794000" y="1371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INNOVATION &amp; CREATIVITY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099EF-7F58-256E-E573-5CC522AC2D74}"/>
              </a:ext>
            </a:extLst>
          </p:cNvPr>
          <p:cNvSpPr txBox="1"/>
          <p:nvPr/>
        </p:nvSpPr>
        <p:spPr>
          <a:xfrm>
            <a:off x="1022998" y="917912"/>
            <a:ext cx="9888842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— AI-Driven Interview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fixed question lists with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interviewer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questions based on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role and candidate profile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— Semantic Answer Understanding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and relevance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candidate answers.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Goes beyond simple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matching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— Multimodal Assessment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text, voice and coding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assessment.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broader view of candidate performance.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 — Automated Personalized Feedback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combines assessment results.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strengths, weaknesses and skill gaps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improvement suggestions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does not only assess the candidate — it also helps the candidate improve.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NOVALITY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309D1F1-6FD5-1F51-2DBE-8A206DB3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7" y="1002603"/>
            <a:ext cx="11300443" cy="53575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F743-01B3-3879-0894-974C7337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1A521F-E63E-5FCC-99E4-7E3CD02E6FC0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7B9E-5097-BABA-3410-DB3EBA8C5529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FEASIBILITY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804E4-60F6-F437-EA2E-B669BA294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369" y="948490"/>
            <a:ext cx="8049260" cy="536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1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06BC-0D02-72B5-7962-7CD7174D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1F66FC-34C6-F1E3-D83C-E29590F59346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5E27E7-CF87-770C-3DCB-07F30CC6929E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PROJECT PLAN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DDDEFD7E-994E-D5EA-ADB9-B505DB40BAB7}"/>
              </a:ext>
            </a:extLst>
          </p:cNvPr>
          <p:cNvSpPr/>
          <p:nvPr/>
        </p:nvSpPr>
        <p:spPr>
          <a:xfrm>
            <a:off x="548640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D716DE3-680B-EBA2-67B7-D90DAC79202C}"/>
              </a:ext>
            </a:extLst>
          </p:cNvPr>
          <p:cNvSpPr/>
          <p:nvPr/>
        </p:nvSpPr>
        <p:spPr>
          <a:xfrm>
            <a:off x="548640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E7D5FC78-646B-4430-7F2E-637D93DD2622}"/>
              </a:ext>
            </a:extLst>
          </p:cNvPr>
          <p:cNvSpPr/>
          <p:nvPr/>
        </p:nvSpPr>
        <p:spPr>
          <a:xfrm>
            <a:off x="548640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5020BC88-F061-B974-FFD5-329A7F4B9758}"/>
              </a:ext>
            </a:extLst>
          </p:cNvPr>
          <p:cNvSpPr/>
          <p:nvPr/>
        </p:nvSpPr>
        <p:spPr>
          <a:xfrm>
            <a:off x="640080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Resume</a:t>
            </a:r>
            <a:endParaRPr lang="en-US" sz="12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85954B5-DA3A-5752-A408-A68FD4380B8C}"/>
              </a:ext>
            </a:extLst>
          </p:cNvPr>
          <p:cNvSpPr/>
          <p:nvPr/>
        </p:nvSpPr>
        <p:spPr>
          <a:xfrm>
            <a:off x="731520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 Parsing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JD Processing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Matching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 Cleaning</a:t>
            </a:r>
            <a:endParaRPr lang="en-US" sz="10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EB7F297C-CAD8-79C9-7341-9D96E41FB682}"/>
              </a:ext>
            </a:extLst>
          </p:cNvPr>
          <p:cNvSpPr/>
          <p:nvPr/>
        </p:nvSpPr>
        <p:spPr>
          <a:xfrm>
            <a:off x="3136392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E51E8D6B-433E-AB43-E74D-5B9949F1C06C}"/>
              </a:ext>
            </a:extLst>
          </p:cNvPr>
          <p:cNvSpPr/>
          <p:nvPr/>
        </p:nvSpPr>
        <p:spPr>
          <a:xfrm>
            <a:off x="1751076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A8EC0460-4497-ABA5-D3BA-FEBD5537F7CF}"/>
              </a:ext>
            </a:extLst>
          </p:cNvPr>
          <p:cNvSpPr/>
          <p:nvPr/>
        </p:nvSpPr>
        <p:spPr>
          <a:xfrm>
            <a:off x="548640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53B188F-D839-1E1E-6E07-2DD7F5DAB40D}"/>
              </a:ext>
            </a:extLst>
          </p:cNvPr>
          <p:cNvSpPr/>
          <p:nvPr/>
        </p:nvSpPr>
        <p:spPr>
          <a:xfrm>
            <a:off x="548640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5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7E99ECD8-56CD-84F8-673C-F555B23B64CF}"/>
              </a:ext>
            </a:extLst>
          </p:cNvPr>
          <p:cNvSpPr/>
          <p:nvPr/>
        </p:nvSpPr>
        <p:spPr>
          <a:xfrm>
            <a:off x="3410712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F31A5027-1D08-CD9C-D22A-7BBEA5AF39D6}"/>
              </a:ext>
            </a:extLst>
          </p:cNvPr>
          <p:cNvSpPr/>
          <p:nvPr/>
        </p:nvSpPr>
        <p:spPr>
          <a:xfrm>
            <a:off x="3410712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3AE7819B-D0DE-7B88-47C8-C6EE82EF9989}"/>
              </a:ext>
            </a:extLst>
          </p:cNvPr>
          <p:cNvSpPr/>
          <p:nvPr/>
        </p:nvSpPr>
        <p:spPr>
          <a:xfrm>
            <a:off x="3410712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0B72594C-A96E-502E-B57A-9F9912056096}"/>
              </a:ext>
            </a:extLst>
          </p:cNvPr>
          <p:cNvSpPr/>
          <p:nvPr/>
        </p:nvSpPr>
        <p:spPr>
          <a:xfrm>
            <a:off x="3502152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Emotion</a:t>
            </a:r>
            <a:endParaRPr lang="en-US" sz="12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308E3F03-BE51-503C-508A-02F6D5D10C4C}"/>
              </a:ext>
            </a:extLst>
          </p:cNvPr>
          <p:cNvSpPr/>
          <p:nvPr/>
        </p:nvSpPr>
        <p:spPr>
          <a:xfrm>
            <a:off x="3593592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Integration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Speech → Text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Emotion Analysis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 Processing</a:t>
            </a:r>
            <a:endParaRPr lang="en-US" sz="10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DEEB3122-5A09-C38B-E6C1-B4813426F340}"/>
              </a:ext>
            </a:extLst>
          </p:cNvPr>
          <p:cNvSpPr/>
          <p:nvPr/>
        </p:nvSpPr>
        <p:spPr>
          <a:xfrm>
            <a:off x="5998464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ECCE74D2-D918-10F3-490B-E761972FE03C}"/>
              </a:ext>
            </a:extLst>
          </p:cNvPr>
          <p:cNvSpPr/>
          <p:nvPr/>
        </p:nvSpPr>
        <p:spPr>
          <a:xfrm>
            <a:off x="4613148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1D6BC82F-3D75-529F-CD52-98B20F950EBE}"/>
              </a:ext>
            </a:extLst>
          </p:cNvPr>
          <p:cNvSpPr/>
          <p:nvPr/>
        </p:nvSpPr>
        <p:spPr>
          <a:xfrm>
            <a:off x="3410712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8D01C4F2-D1BD-EDD6-0649-CDF64DEC333E}"/>
              </a:ext>
            </a:extLst>
          </p:cNvPr>
          <p:cNvSpPr/>
          <p:nvPr/>
        </p:nvSpPr>
        <p:spPr>
          <a:xfrm>
            <a:off x="3410712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50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66077B01-B281-E193-087A-0DFB480CDD33}"/>
              </a:ext>
            </a:extLst>
          </p:cNvPr>
          <p:cNvSpPr/>
          <p:nvPr/>
        </p:nvSpPr>
        <p:spPr>
          <a:xfrm>
            <a:off x="6272784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EDAC3E82-B169-9CF2-0CD5-0B3AA1D0FC8F}"/>
              </a:ext>
            </a:extLst>
          </p:cNvPr>
          <p:cNvSpPr/>
          <p:nvPr/>
        </p:nvSpPr>
        <p:spPr>
          <a:xfrm>
            <a:off x="6272784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EBD2E4E7-0FEE-2524-CE48-F6CAE4B11D86}"/>
              </a:ext>
            </a:extLst>
          </p:cNvPr>
          <p:cNvSpPr/>
          <p:nvPr/>
        </p:nvSpPr>
        <p:spPr>
          <a:xfrm>
            <a:off x="6272784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FFCA041E-05F9-874C-564E-9BD4722D26CE}"/>
              </a:ext>
            </a:extLst>
          </p:cNvPr>
          <p:cNvSpPr/>
          <p:nvPr/>
        </p:nvSpPr>
        <p:spPr>
          <a:xfrm>
            <a:off x="6364224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Coding</a:t>
            </a:r>
            <a:endParaRPr lang="en-US" sz="12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A66C2913-6C76-79F8-A319-3278AA77F0F7}"/>
              </a:ext>
            </a:extLst>
          </p:cNvPr>
          <p:cNvSpPr/>
          <p:nvPr/>
        </p:nvSpPr>
        <p:spPr>
          <a:xfrm>
            <a:off x="6455664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BERT Answer Scoring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Matching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Coding Assessment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Test-Case Grading</a:t>
            </a:r>
            <a:endParaRPr lang="en-US" sz="1000" dirty="0"/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24FAEA18-D884-97BA-EB17-DD49035B96CF}"/>
              </a:ext>
            </a:extLst>
          </p:cNvPr>
          <p:cNvSpPr/>
          <p:nvPr/>
        </p:nvSpPr>
        <p:spPr>
          <a:xfrm>
            <a:off x="8860536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5A7079F6-0836-5C14-5C50-96E61EAB62C3}"/>
              </a:ext>
            </a:extLst>
          </p:cNvPr>
          <p:cNvSpPr/>
          <p:nvPr/>
        </p:nvSpPr>
        <p:spPr>
          <a:xfrm>
            <a:off x="7475220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26">
            <a:extLst>
              <a:ext uri="{FF2B5EF4-FFF2-40B4-BE49-F238E27FC236}">
                <a16:creationId xmlns:a16="http://schemas.microsoft.com/office/drawing/2014/main" id="{3FF2BE91-4F07-17E7-79CD-B2F41A3BE845}"/>
              </a:ext>
            </a:extLst>
          </p:cNvPr>
          <p:cNvSpPr/>
          <p:nvPr/>
        </p:nvSpPr>
        <p:spPr>
          <a:xfrm>
            <a:off x="6272784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DBA99B4A-676F-ED8F-D2F1-08B07F98293A}"/>
              </a:ext>
            </a:extLst>
          </p:cNvPr>
          <p:cNvSpPr/>
          <p:nvPr/>
        </p:nvSpPr>
        <p:spPr>
          <a:xfrm>
            <a:off x="6272784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B4C4012B-8A1C-6C38-1FE3-FC2E44824C37}"/>
              </a:ext>
            </a:extLst>
          </p:cNvPr>
          <p:cNvSpPr/>
          <p:nvPr/>
        </p:nvSpPr>
        <p:spPr>
          <a:xfrm>
            <a:off x="9134856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BDA7AE82-5AF8-254B-7F38-51A91AEFCBAB}"/>
              </a:ext>
            </a:extLst>
          </p:cNvPr>
          <p:cNvSpPr/>
          <p:nvPr/>
        </p:nvSpPr>
        <p:spPr>
          <a:xfrm>
            <a:off x="9134856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65" name="Shape 30">
            <a:extLst>
              <a:ext uri="{FF2B5EF4-FFF2-40B4-BE49-F238E27FC236}">
                <a16:creationId xmlns:a16="http://schemas.microsoft.com/office/drawing/2014/main" id="{36510374-E72B-961B-9913-5990466BE43D}"/>
              </a:ext>
            </a:extLst>
          </p:cNvPr>
          <p:cNvSpPr/>
          <p:nvPr/>
        </p:nvSpPr>
        <p:spPr>
          <a:xfrm>
            <a:off x="9134856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42AA8C29-12CE-9F11-3F37-7DD621EDDD16}"/>
              </a:ext>
            </a:extLst>
          </p:cNvPr>
          <p:cNvSpPr/>
          <p:nvPr/>
        </p:nvSpPr>
        <p:spPr>
          <a:xfrm>
            <a:off x="9226296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Testing</a:t>
            </a:r>
            <a:endParaRPr lang="en-US" sz="1200" dirty="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C95F9864-E1E5-70B6-F264-61785C9926D2}"/>
              </a:ext>
            </a:extLst>
          </p:cNvPr>
          <p:cNvSpPr/>
          <p:nvPr/>
        </p:nvSpPr>
        <p:spPr>
          <a:xfrm>
            <a:off x="9317736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Integration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Report Gen.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Pipeline Testing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Deployment</a:t>
            </a:r>
            <a:endParaRPr lang="en-US" sz="1000" dirty="0"/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657EBF73-E73A-973C-5A04-8FE774B925B0}"/>
              </a:ext>
            </a:extLst>
          </p:cNvPr>
          <p:cNvSpPr/>
          <p:nvPr/>
        </p:nvSpPr>
        <p:spPr>
          <a:xfrm>
            <a:off x="10337292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59A83B90-7834-D2F6-0918-A49709A762B1}"/>
              </a:ext>
            </a:extLst>
          </p:cNvPr>
          <p:cNvSpPr/>
          <p:nvPr/>
        </p:nvSpPr>
        <p:spPr>
          <a:xfrm>
            <a:off x="9134856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0E79F52F-4C68-AF9D-8BF8-BCD9390CB0F9}"/>
              </a:ext>
            </a:extLst>
          </p:cNvPr>
          <p:cNvSpPr/>
          <p:nvPr/>
        </p:nvSpPr>
        <p:spPr>
          <a:xfrm>
            <a:off x="9134856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50" dirty="0"/>
          </a:p>
        </p:txBody>
      </p:sp>
      <p:sp>
        <p:nvSpPr>
          <p:cNvPr id="77" name="Text 36">
            <a:extLst>
              <a:ext uri="{FF2B5EF4-FFF2-40B4-BE49-F238E27FC236}">
                <a16:creationId xmlns:a16="http://schemas.microsoft.com/office/drawing/2014/main" id="{7234D324-19CC-BFB3-A9FE-BC7336FF7068}"/>
              </a:ext>
            </a:extLst>
          </p:cNvPr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79" name="Shape 37">
            <a:extLst>
              <a:ext uri="{FF2B5EF4-FFF2-40B4-BE49-F238E27FC236}">
                <a16:creationId xmlns:a16="http://schemas.microsoft.com/office/drawing/2014/main" id="{B9E146CB-24E2-C565-FFD5-1A25598AEB99}"/>
              </a:ext>
            </a:extLst>
          </p:cNvPr>
          <p:cNvSpPr/>
          <p:nvPr/>
        </p:nvSpPr>
        <p:spPr>
          <a:xfrm>
            <a:off x="548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38">
            <a:extLst>
              <a:ext uri="{FF2B5EF4-FFF2-40B4-BE49-F238E27FC236}">
                <a16:creationId xmlns:a16="http://schemas.microsoft.com/office/drawing/2014/main" id="{0A099BD6-CF4A-5A0B-F1C3-09ACE18098A3}"/>
              </a:ext>
            </a:extLst>
          </p:cNvPr>
          <p:cNvSpPr/>
          <p:nvPr/>
        </p:nvSpPr>
        <p:spPr>
          <a:xfrm>
            <a:off x="658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Matching</a:t>
            </a:r>
            <a:endParaRPr lang="en-US" sz="1150" dirty="0"/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A1FA6A4C-CF5C-BF32-55AC-B9B0B38A9824}"/>
              </a:ext>
            </a:extLst>
          </p:cNvPr>
          <p:cNvSpPr/>
          <p:nvPr/>
        </p:nvSpPr>
        <p:spPr>
          <a:xfrm>
            <a:off x="658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/ Match Score</a:t>
            </a:r>
            <a:endParaRPr lang="en-US" sz="950" dirty="0"/>
          </a:p>
        </p:txBody>
      </p:sp>
      <p:sp>
        <p:nvSpPr>
          <p:cNvPr id="85" name="Shape 40">
            <a:extLst>
              <a:ext uri="{FF2B5EF4-FFF2-40B4-BE49-F238E27FC236}">
                <a16:creationId xmlns:a16="http://schemas.microsoft.com/office/drawing/2014/main" id="{0DF6ABDB-6E8C-E6B4-EF6A-4AAB7767DFC8}"/>
              </a:ext>
            </a:extLst>
          </p:cNvPr>
          <p:cNvSpPr/>
          <p:nvPr/>
        </p:nvSpPr>
        <p:spPr>
          <a:xfrm>
            <a:off x="2834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41">
            <a:extLst>
              <a:ext uri="{FF2B5EF4-FFF2-40B4-BE49-F238E27FC236}">
                <a16:creationId xmlns:a16="http://schemas.microsoft.com/office/drawing/2014/main" id="{73C13224-D672-5220-72D1-E820E15D546A}"/>
              </a:ext>
            </a:extLst>
          </p:cNvPr>
          <p:cNvSpPr/>
          <p:nvPr/>
        </p:nvSpPr>
        <p:spPr>
          <a:xfrm>
            <a:off x="2944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150" dirty="0"/>
          </a:p>
        </p:txBody>
      </p:sp>
      <p:sp>
        <p:nvSpPr>
          <p:cNvPr id="89" name="Text 42">
            <a:extLst>
              <a:ext uri="{FF2B5EF4-FFF2-40B4-BE49-F238E27FC236}">
                <a16:creationId xmlns:a16="http://schemas.microsoft.com/office/drawing/2014/main" id="{80725944-E0BF-F1D2-1C49-E2C37041233C}"/>
              </a:ext>
            </a:extLst>
          </p:cNvPr>
          <p:cNvSpPr/>
          <p:nvPr/>
        </p:nvSpPr>
        <p:spPr>
          <a:xfrm>
            <a:off x="2944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Accuracy</a:t>
            </a:r>
            <a:endParaRPr lang="en-US" sz="950" dirty="0"/>
          </a:p>
        </p:txBody>
      </p:sp>
      <p:sp>
        <p:nvSpPr>
          <p:cNvPr id="91" name="Shape 43">
            <a:extLst>
              <a:ext uri="{FF2B5EF4-FFF2-40B4-BE49-F238E27FC236}">
                <a16:creationId xmlns:a16="http://schemas.microsoft.com/office/drawing/2014/main" id="{466B539A-D987-8DA6-EAE5-05D74C506B78}"/>
              </a:ext>
            </a:extLst>
          </p:cNvPr>
          <p:cNvSpPr/>
          <p:nvPr/>
        </p:nvSpPr>
        <p:spPr>
          <a:xfrm>
            <a:off x="5120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44">
            <a:extLst>
              <a:ext uri="{FF2B5EF4-FFF2-40B4-BE49-F238E27FC236}">
                <a16:creationId xmlns:a16="http://schemas.microsoft.com/office/drawing/2014/main" id="{BE2D5707-B902-D362-2939-C86F028B7601}"/>
              </a:ext>
            </a:extLst>
          </p:cNvPr>
          <p:cNvSpPr/>
          <p:nvPr/>
        </p:nvSpPr>
        <p:spPr>
          <a:xfrm>
            <a:off x="5230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Evaluation</a:t>
            </a:r>
            <a:endParaRPr lang="en-US" sz="1150" dirty="0"/>
          </a:p>
        </p:txBody>
      </p:sp>
      <p:sp>
        <p:nvSpPr>
          <p:cNvPr id="95" name="Text 45">
            <a:extLst>
              <a:ext uri="{FF2B5EF4-FFF2-40B4-BE49-F238E27FC236}">
                <a16:creationId xmlns:a16="http://schemas.microsoft.com/office/drawing/2014/main" id="{4A54B675-37DE-CEF2-D26B-22C01C82D41B}"/>
              </a:ext>
            </a:extLst>
          </p:cNvPr>
          <p:cNvSpPr/>
          <p:nvPr/>
        </p:nvSpPr>
        <p:spPr>
          <a:xfrm>
            <a:off x="5230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/ Relevance Score</a:t>
            </a:r>
            <a:endParaRPr lang="en-US" sz="950" dirty="0"/>
          </a:p>
        </p:txBody>
      </p:sp>
      <p:sp>
        <p:nvSpPr>
          <p:cNvPr id="97" name="Shape 46">
            <a:extLst>
              <a:ext uri="{FF2B5EF4-FFF2-40B4-BE49-F238E27FC236}">
                <a16:creationId xmlns:a16="http://schemas.microsoft.com/office/drawing/2014/main" id="{A31D5B85-DA6D-A8D1-8F89-2F916A6DA13F}"/>
              </a:ext>
            </a:extLst>
          </p:cNvPr>
          <p:cNvSpPr/>
          <p:nvPr/>
        </p:nvSpPr>
        <p:spPr>
          <a:xfrm>
            <a:off x="7406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761BC0A1-D072-53B5-B35F-4FC996191A5B}"/>
              </a:ext>
            </a:extLst>
          </p:cNvPr>
          <p:cNvSpPr/>
          <p:nvPr/>
        </p:nvSpPr>
        <p:spPr>
          <a:xfrm>
            <a:off x="7516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Analysis</a:t>
            </a:r>
            <a:endParaRPr lang="en-US" sz="1150" dirty="0"/>
          </a:p>
        </p:txBody>
      </p:sp>
      <p:sp>
        <p:nvSpPr>
          <p:cNvPr id="101" name="Text 48">
            <a:extLst>
              <a:ext uri="{FF2B5EF4-FFF2-40B4-BE49-F238E27FC236}">
                <a16:creationId xmlns:a16="http://schemas.microsoft.com/office/drawing/2014/main" id="{99B7FE75-B7CB-4762-9389-F4E698017CB0}"/>
              </a:ext>
            </a:extLst>
          </p:cNvPr>
          <p:cNvSpPr/>
          <p:nvPr/>
        </p:nvSpPr>
        <p:spPr>
          <a:xfrm>
            <a:off x="7516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Performance</a:t>
            </a:r>
            <a:endParaRPr lang="en-US" sz="950" dirty="0"/>
          </a:p>
        </p:txBody>
      </p:sp>
      <p:sp>
        <p:nvSpPr>
          <p:cNvPr id="103" name="Shape 49">
            <a:extLst>
              <a:ext uri="{FF2B5EF4-FFF2-40B4-BE49-F238E27FC236}">
                <a16:creationId xmlns:a16="http://schemas.microsoft.com/office/drawing/2014/main" id="{5E7C5E30-3F91-BCBC-6CC9-93BA6C4E7A1B}"/>
              </a:ext>
            </a:extLst>
          </p:cNvPr>
          <p:cNvSpPr/>
          <p:nvPr/>
        </p:nvSpPr>
        <p:spPr>
          <a:xfrm>
            <a:off x="9692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50">
            <a:extLst>
              <a:ext uri="{FF2B5EF4-FFF2-40B4-BE49-F238E27FC236}">
                <a16:creationId xmlns:a16="http://schemas.microsoft.com/office/drawing/2014/main" id="{B5E888FC-88B4-2B6A-D3D3-2922AA384654}"/>
              </a:ext>
            </a:extLst>
          </p:cNvPr>
          <p:cNvSpPr/>
          <p:nvPr/>
        </p:nvSpPr>
        <p:spPr>
          <a:xfrm>
            <a:off x="9802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Assessment</a:t>
            </a:r>
            <a:endParaRPr lang="en-US" sz="1150" dirty="0"/>
          </a:p>
        </p:txBody>
      </p:sp>
      <p:sp>
        <p:nvSpPr>
          <p:cNvPr id="107" name="Text 51">
            <a:extLst>
              <a:ext uri="{FF2B5EF4-FFF2-40B4-BE49-F238E27FC236}">
                <a16:creationId xmlns:a16="http://schemas.microsoft.com/office/drawing/2014/main" id="{C34EF47A-9983-B6F2-3254-5F99F996667B}"/>
              </a:ext>
            </a:extLst>
          </p:cNvPr>
          <p:cNvSpPr/>
          <p:nvPr/>
        </p:nvSpPr>
        <p:spPr>
          <a:xfrm>
            <a:off x="9802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 / Accuracy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5334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74460" y="302403"/>
            <a:ext cx="67103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</a:rPr>
              <a:t>PROPOSED ARCHITECTURE/METHODOLOGY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D3F6CA-A303-A357-B0A9-027569D32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73" y="906353"/>
            <a:ext cx="4542367" cy="5738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D21902-4C3C-25EB-295D-2C3CF3148875}"/>
              </a:ext>
            </a:extLst>
          </p:cNvPr>
          <p:cNvSpPr txBox="1"/>
          <p:nvPr/>
        </p:nvSpPr>
        <p:spPr>
          <a:xfrm>
            <a:off x="5669280" y="1012954"/>
            <a:ext cx="6096000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1.User Registration &amp; Login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2.Resume &amp; Job Description Upload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3.Intelligent Resume Screening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4.Adaptive AI Interview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5.Speech-to-Text &amp; Multimodal Analysis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6.Technical Coding Assessment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7.Final Hiring Recommendation / Improvement Roadmap</a:t>
            </a:r>
          </a:p>
          <a:p>
            <a:endParaRPr lang="en-IN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600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Cambria</vt:lpstr>
      <vt:lpstr>Times New Roman</vt:lpstr>
      <vt:lpstr>Office Theme</vt:lpstr>
      <vt:lpstr>       APPLIED MACHINE LEARNING FOR TEXT ANALYSIS (24ALT3101)  AI-POWERED SMART INTERVIEW ASSESSMENT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vanjari sai dhanush</cp:lastModifiedBy>
  <cp:revision>26</cp:revision>
  <dcterms:created xsi:type="dcterms:W3CDTF">2024-08-29T05:25:00Z</dcterms:created>
  <dcterms:modified xsi:type="dcterms:W3CDTF">2026-08-08T06:56:23Z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